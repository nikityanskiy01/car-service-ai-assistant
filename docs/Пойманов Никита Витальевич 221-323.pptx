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24"/>
  </p:notesMasterIdLst>
  <p:sldIdLst>
    <p:sldId id="256" r:id="rId2"/>
    <p:sldId id="257" r:id="rId3"/>
    <p:sldId id="262" r:id="rId4"/>
    <p:sldId id="264" r:id="rId5"/>
    <p:sldId id="265" r:id="rId6"/>
    <p:sldId id="263" r:id="rId7"/>
    <p:sldId id="266" r:id="rId8"/>
    <p:sldId id="267" r:id="rId9"/>
    <p:sldId id="268" r:id="rId10"/>
    <p:sldId id="269" r:id="rId11"/>
    <p:sldId id="271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58" r:id="rId23"/>
  </p:sldIdLst>
  <p:sldSz cx="12192000" cy="6858000"/>
  <p:notesSz cx="6858000" cy="9144000"/>
  <p:embeddedFontLs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Gilroy Bold" panose="00000800000000000000" charset="0"/>
      <p:bold r:id="rId29"/>
    </p:embeddedFont>
    <p:embeddedFont>
      <p:font typeface="Gilroy Medium" panose="00000600000000000000" charset="0"/>
      <p:regular r:id="rId30"/>
    </p:embeddedFont>
    <p:embeddedFont>
      <p:font typeface="Verdana" panose="020B0604030504040204" pitchFamily="34" charset="0"/>
      <p:regular r:id="rId31"/>
      <p:bold r:id="rId32"/>
      <p:italic r:id="rId33"/>
      <p:boldItalic r:id="rId3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204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70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958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177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647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2188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586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7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33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8112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7966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088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2311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6496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2956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1298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8391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6473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5467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10.05.2026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10.05.2026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10.05.2026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10.05.2026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10.05.2026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10.05.2026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10.05.2026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10.05.2026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ВЫПУСКНАЯ КВАЛИФИКАЦИОННАЯ РАБОТА</a:t>
            </a: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76899" y="2951946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РАЗРАБОТКА  ИНТЕЛЛЕКТУАЛЬНОЙ СИСТЕМЫ РАБОТЫ С КЛИЕНТАМИ АВТОСЕРВИСА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7373922" y="4597930"/>
            <a:ext cx="422175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 err="1">
                <a:latin typeface="Gilroy Medium" panose="00000600000000000000" charset="-52"/>
              </a:rPr>
              <a:t>Пойманов</a:t>
            </a:r>
            <a:r>
              <a:rPr lang="ru-RU" dirty="0">
                <a:latin typeface="Gilroy Medium" panose="00000600000000000000" charset="-52"/>
              </a:rPr>
              <a:t> Никита Витальевич</a:t>
            </a:r>
            <a:r>
              <a:rPr lang="ru-RU" sz="1800" dirty="0">
                <a:latin typeface="Gilroy Medium" panose="00000600000000000000" charset="-52"/>
              </a:rPr>
              <a:t>,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группа 221-323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Научный руководитель: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Смирнова Юлия Владимировна, </a:t>
            </a:r>
            <a:r>
              <a:rPr lang="ru-RU" sz="1800" dirty="0">
                <a:solidFill>
                  <a:schemeClr val="tx1"/>
                </a:solidFill>
                <a:latin typeface="Gilroy Medium" panose="00000600000000000000" charset="-52"/>
              </a:rPr>
              <a:t>к.т.н.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Москва, 4 июня 2026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39754" y="6232725"/>
            <a:ext cx="8434457" cy="48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9754" y="353566"/>
            <a:ext cx="44797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Bold" panose="00000800000000000000" pitchFamily="2" charset="-52"/>
                <a:ea typeface="+mj-ea"/>
                <a:cs typeface="+mj-cs"/>
              </a:rPr>
              <a:t>Актуальность работы</a:t>
            </a: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B3B153-F469-8D5C-63AC-3EB8AC0981A6}"/>
              </a:ext>
            </a:extLst>
          </p:cNvPr>
          <p:cNvSpPr txBox="1"/>
          <p:nvPr/>
        </p:nvSpPr>
        <p:spPr>
          <a:xfrm>
            <a:off x="577516" y="1359568"/>
            <a:ext cx="75678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Обращения в СТО идут по телефону, мессенджерам, формам на сайте и др.; качество входящих сообщений неоднородно.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Много неполных, противоречивых или эмоционально окрашенных описаний — растёт время обработки и нагрузка на менеджера.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Клиенты часто описывают симптомы бытовым языком, без точной терминологии.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Автоматизация этапа первичной консультации позволяет унифицировать сбор данных и передать в работу структурированную заявку.</a:t>
            </a:r>
          </a:p>
          <a:p>
            <a:br>
              <a:rPr lang="ru-RU" b="0" dirty="0">
                <a:solidFill>
                  <a:srgbClr val="E4E4E4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E4E4E4"/>
              </a:solidFill>
              <a:effectLst/>
              <a:latin typeface="Consolas" panose="020B06090202040302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16986" y="6186956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3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2">
                    <a:lumMod val="25000"/>
                  </a:schemeClr>
                </a:solidFill>
                <a:latin typeface="Gilroy Bold" panose="00000800000000000000" pitchFamily="2" charset="-52"/>
                <a:ea typeface="+mj-ea"/>
                <a:cs typeface="+mj-cs"/>
              </a:rPr>
              <a:t>Проблема существующего процесса</a:t>
            </a:r>
            <a:endParaRPr lang="ru-RU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18230" y="6249101"/>
            <a:ext cx="10916724" cy="48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4131A3-9ABD-2CFB-DC7C-A0A21C57AE69}"/>
              </a:ext>
            </a:extLst>
          </p:cNvPr>
          <p:cNvSpPr txBox="1"/>
          <p:nvPr/>
        </p:nvSpPr>
        <p:spPr>
          <a:xfrm>
            <a:off x="547437" y="1515979"/>
            <a:ext cx="66955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Высокая нагрузка на персонал в часы пик; параллельная обработка нескольких обращений увеличивает риск ошибок.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Нет единого стандарта уточняющих вопросов — данные обращений неоднородны по полноте.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Качество консультации сильно зависит от опыта и состояния конкретного сотрудника.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Информация разрозненно хранится (CRM, мессенджеры, таблицы) — сложно анализировать поток обращений.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729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4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pitchFamily="2" charset="-52"/>
                <a:ea typeface="+mj-ea"/>
                <a:cs typeface="+mj-cs"/>
              </a:rPr>
              <a:t>Цели и задачи работы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E14B-182A-4966-B033-9B3029F87F3A}"/>
              </a:ext>
            </a:extLst>
          </p:cNvPr>
          <p:cNvSpPr txBox="1"/>
          <p:nvPr/>
        </p:nvSpPr>
        <p:spPr>
          <a:xfrm>
            <a:off x="319030" y="6261920"/>
            <a:ext cx="7633733" cy="483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F93E54-C911-628E-C3C7-81887E185A6C}"/>
              </a:ext>
            </a:extLst>
          </p:cNvPr>
          <p:cNvSpPr txBox="1"/>
          <p:nvPr/>
        </p:nvSpPr>
        <p:spPr>
          <a:xfrm>
            <a:off x="523374" y="1088858"/>
            <a:ext cx="8458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Цель (практический результат):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автоматизировать первичную консультацию клиента автосервиса: интеллектуальный анализ обращения, предварительная стоимость услуг в формате «от», формирование и передача заявки на обслуживание.</a:t>
            </a:r>
          </a:p>
          <a:p>
            <a:b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Задачи:</a:t>
            </a:r>
          </a:p>
          <a:p>
            <a:b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Проанализировать предметную область автосервиса и проблемы первичной консультации.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Проанализировать аналоги и существующие решения.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Спроектировать архитектуру интеллектуальной системы и модель БД.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Реализовать локальный ИИ-ассистент для анализа обращений.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5. Разработать клиентскую и серверную части веб-приложения; реализовать передачу заявки.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6. Провести тестирование системы.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263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5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Объект и предмет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319030" y="6241022"/>
            <a:ext cx="10916724" cy="48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530A86-1A30-0064-D0AB-01F4A1EEC1EE}"/>
              </a:ext>
            </a:extLst>
          </p:cNvPr>
          <p:cNvSpPr txBox="1"/>
          <p:nvPr/>
        </p:nvSpPr>
        <p:spPr>
          <a:xfrm>
            <a:off x="457200" y="1185111"/>
            <a:ext cx="69903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Объект исследования: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процессы первичной консультации клиентов и обработки их обращений в организации автомобильного сервиса.</a:t>
            </a:r>
          </a:p>
          <a:p>
            <a:r>
              <a:rPr lang="ru-RU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Предмет исследования: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методы, алгоритмы и программные средства интеллектуальной обработки текстовых обращений, диалоговой консультации и формирования структурированных заявок при поддержке локальной языковой модели.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6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83431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6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13491" y="512061"/>
            <a:ext cx="11169940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Пользователи и роли системы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92519" y="6236733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A70C35-52FC-7B09-909B-2C95D4234DBF}"/>
              </a:ext>
            </a:extLst>
          </p:cNvPr>
          <p:cNvSpPr txBox="1"/>
          <p:nvPr/>
        </p:nvSpPr>
        <p:spPr>
          <a:xfrm>
            <a:off x="354932" y="1239253"/>
            <a:ext cx="77002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Клиент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ввод описания проблемы бытовым языком; нужна быстрая предварительная информация и удобный веб-доступ.</a:t>
            </a:r>
          </a:p>
          <a:p>
            <a:r>
              <a:rPr lang="ru-RU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Менеджер (администратор приёма)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— получает уже структурированную заявку и результат первичного анализа.</a:t>
            </a:r>
          </a:p>
          <a:p>
            <a:r>
              <a:rPr lang="ru-RU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Руководство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— интерес к сокращению времени обработки обращений и накоплению аналитики по типам обращений.</a:t>
            </a:r>
          </a:p>
          <a:p>
            <a:r>
              <a:rPr lang="ru-RU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Администратор системы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— роли пользователей, сценарии консультации, контроль работы ИИ-модуля, безопасность.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1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7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Бизнес-процесс: </a:t>
            </a:r>
            <a:r>
              <a:rPr lang="en-US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AS-IS </a:t>
            </a:r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и </a:t>
            </a:r>
            <a:r>
              <a:rPr lang="en-US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TO-BE 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10669" y="6220736"/>
            <a:ext cx="10916724" cy="48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BEADC3-5A21-7149-7BE6-2B2CA3B970AB}"/>
              </a:ext>
            </a:extLst>
          </p:cNvPr>
          <p:cNvSpPr txBox="1"/>
          <p:nvPr/>
        </p:nvSpPr>
        <p:spPr>
          <a:xfrm>
            <a:off x="523374" y="1407695"/>
            <a:ext cx="51435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AS-IS: </a:t>
            </a: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клиент обращается по разным каналам → менеджер вручную уточняет данные → фиксация в CRM или вручную → заявка специалистам; мало регламента, субъективная оценка стоимости.</a:t>
            </a:r>
          </a:p>
          <a:p>
            <a:r>
              <a:rPr lang="ru-RU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TO-BE: </a:t>
            </a: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клиент ведёт диалог в веб-интерфейсе → сервер и ИИ анализируют текст, при нехватке данных задают уточняющие вопросы → классификация, предварительные рекомендации, стоимость «от», </a:t>
            </a:r>
            <a:r>
              <a:rPr lang="ru-RU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confidence</a:t>
            </a:r>
            <a:r>
              <a:rPr lang="ru-RU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структурированная заявка менеджеру (в т.ч. уведомление).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 descr="Изображение выглядит как текст, Параллельный, диаграмма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FF4ECE6-A710-F320-66D8-0CF307C038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895" y="1261698"/>
            <a:ext cx="5048498" cy="487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9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8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Взаимодействие компонентов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06509" y="6224338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EB8B1A-E66E-1B9A-06EE-7D47EB0CDE3A}"/>
              </a:ext>
            </a:extLst>
          </p:cNvPr>
          <p:cNvSpPr txBox="1"/>
          <p:nvPr/>
        </p:nvSpPr>
        <p:spPr>
          <a:xfrm>
            <a:off x="475247" y="1648326"/>
            <a:ext cx="587742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Клиент инициирует сессию через веб-интерфейс; сообщения сохраняются на сервере.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Текст передаётся в модуль ИИ; возвращаются гипотезы, список недостающих данных и показатель </a:t>
            </a:r>
            <a:r>
              <a:rPr lang="ru-RU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confidence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Вариант с недостаточными данными: уточняющий вопрос пользователю; при достаточных — расчёт ориентировочной стоимости и отображение результата.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После подтверждения создаётся заявка в БД; возможно уведомление менеджера (в работе — интеграция с Telegram-ботом).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 descr="Изображение выглядит как текст, снимок экрана, Шриф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5A507C6-AFFB-58C3-D3DF-AD9D419AE2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2674" y="1566865"/>
            <a:ext cx="5241427" cy="349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766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63007" y="6134487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9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Аналоги и отличие разрабатываемой системы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72891" y="6173172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E5973D-2AB8-9802-1D13-420DE23C2A58}"/>
              </a:ext>
            </a:extLst>
          </p:cNvPr>
          <p:cNvSpPr txBox="1"/>
          <p:nvPr/>
        </p:nvSpPr>
        <p:spPr>
          <a:xfrm>
            <a:off x="517358" y="2075447"/>
            <a:ext cx="75618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effectLst/>
                <a:latin typeface="Consolas" panose="020B0609020204030204" pitchFamily="49" charset="0"/>
              </a:rPr>
              <a:t>CRM</a:t>
            </a:r>
            <a:r>
              <a:rPr lang="ru-RU" b="0" dirty="0">
                <a:effectLst/>
                <a:latin typeface="Consolas" panose="020B0609020204030204" pitchFamily="49" charset="0"/>
              </a:rPr>
              <a:t> — учёт клиентов и заявок, но без интеллектуального разбора свободного текста обращения.</a:t>
            </a:r>
          </a:p>
          <a:p>
            <a:r>
              <a:rPr lang="ru-RU" b="1" dirty="0">
                <a:effectLst/>
                <a:latin typeface="Consolas" panose="020B0609020204030204" pitchFamily="49" charset="0"/>
              </a:rPr>
              <a:t>Онлайн-формы</a:t>
            </a:r>
            <a:r>
              <a:rPr lang="ru-RU" b="0" dirty="0">
                <a:effectLst/>
                <a:latin typeface="Consolas" panose="020B0609020204030204" pitchFamily="49" charset="0"/>
              </a:rPr>
              <a:t> — частичная структура полей, без адаптивного диалога при нехватке данных.</a:t>
            </a:r>
          </a:p>
          <a:p>
            <a:r>
              <a:rPr lang="ru-RU" b="1" dirty="0">
                <a:effectLst/>
                <a:latin typeface="Consolas" panose="020B0609020204030204" pitchFamily="49" charset="0"/>
              </a:rPr>
              <a:t>Сценарные чат-боты </a:t>
            </a:r>
            <a:r>
              <a:rPr lang="ru-RU" b="0" dirty="0">
                <a:effectLst/>
                <a:latin typeface="Consolas" panose="020B0609020204030204" pitchFamily="49" charset="0"/>
              </a:rPr>
              <a:t>— жёсткие ветки, слабая работа со свободным описанием симптомов.</a:t>
            </a:r>
          </a:p>
          <a:p>
            <a:r>
              <a:rPr lang="ru-RU" b="1" dirty="0">
                <a:effectLst/>
                <a:latin typeface="Consolas" panose="020B0609020204030204" pitchFamily="49" charset="0"/>
              </a:rPr>
              <a:t>Отличие: </a:t>
            </a:r>
            <a:r>
              <a:rPr lang="ru-RU" b="0" dirty="0">
                <a:effectLst/>
                <a:latin typeface="Consolas" panose="020B0609020204030204" pitchFamily="49" charset="0"/>
              </a:rPr>
              <a:t>анализ текста в свободной форме, извлечение параметров автомобиля и симптомов, уточняющие вопросы, классификация по услугам, **</a:t>
            </a:r>
            <a:r>
              <a:rPr lang="ru-RU" b="0" dirty="0" err="1">
                <a:effectLst/>
                <a:latin typeface="Consolas" panose="020B0609020204030204" pitchFamily="49" charset="0"/>
              </a:rPr>
              <a:t>confidence</a:t>
            </a:r>
            <a:r>
              <a:rPr lang="ru-RU" b="0" dirty="0">
                <a:effectLst/>
                <a:latin typeface="Consolas" panose="020B0609020204030204" pitchFamily="49" charset="0"/>
              </a:rPr>
              <a:t>**, стоимость «от», автоматическое создание заявки для менеджера.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3348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308360" y="6212686"/>
            <a:ext cx="656889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10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Требование к системе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26751" y="6203808"/>
            <a:ext cx="10916724" cy="486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864257-32D5-BF9B-7659-D069B6C520DD}"/>
              </a:ext>
            </a:extLst>
          </p:cNvPr>
          <p:cNvSpPr txBox="1"/>
          <p:nvPr/>
        </p:nvSpPr>
        <p:spPr>
          <a:xfrm>
            <a:off x="366963" y="1209174"/>
            <a:ext cx="106900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Функциональные (фрагмент):</a:t>
            </a:r>
            <a:b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Анализ обращения (NLP/LLM), извлечение структурированных параметров ТС и симптомов.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Вероятностные гипотезы неисправностей, расчёт **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confidence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**, рекомендуемый вид услуги.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Ориентировочная стоимость «от» по справочнику; сохранение истории консультации; создание заявки для менеджера.</a:t>
            </a:r>
          </a:p>
          <a:p>
            <a:b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Нефункциональные (фрагмент):</a:t>
            </a:r>
            <a:b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Локальное развёртывание ИИ-модуля (без обязательной зависимости от платных внешних API).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Конфиденциальность данных; работа в браузере на ПК и мобильных устройствах (адаптивный UI).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Масштабируемость серверной части; устойчивость к ошибочному вводу; прозрачность для пользователя (предварительный характер выводов).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556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299972" y="6186955"/>
            <a:ext cx="811536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11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Архитектура решения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57413" y="6199007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8D4D28-F2B2-B1A9-5174-7BD3A46DD63C}"/>
              </a:ext>
            </a:extLst>
          </p:cNvPr>
          <p:cNvSpPr txBox="1"/>
          <p:nvPr/>
        </p:nvSpPr>
        <p:spPr>
          <a:xfrm>
            <a:off x="257413" y="1314355"/>
            <a:ext cx="59977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Клиент — адаптивное веб-приложение (в т.ч. в концепции PWA): только UI и вызовы API, без локального ИИ в браузере.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Сервер — Node.js: REST API, сессии консультаций, доступ к БД, интеграция с ИИ-модулем.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Подсистема ИИ — локальная LLM (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Qwen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2.5 через 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Ollama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Хранение — 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передача заявки менеджеру после завершения сессии.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 descr="Изображение выглядит как текст, диаграмма, снимок экран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DB221B5-0CF4-D17A-42E6-EE1B34F3D9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829" y="1601875"/>
            <a:ext cx="5622758" cy="223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64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39362" y="6207612"/>
            <a:ext cx="635192" cy="574701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12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Технологический стек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28948" y="6225368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791745-81FE-A237-8E87-8274C3D9F139}"/>
              </a:ext>
            </a:extLst>
          </p:cNvPr>
          <p:cNvSpPr txBox="1"/>
          <p:nvPr/>
        </p:nvSpPr>
        <p:spPr>
          <a:xfrm>
            <a:off x="583532" y="1133541"/>
            <a:ext cx="77543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Клиент: 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HTML5, CSS3, JavaScript;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разметка и стили под многостраничный 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фронтенд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репозитория.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Сервер: 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Node.js, Express, REST API, JWT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авторизации.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Данные: 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PostgreSQL, ORM Prisma (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 реализации в [`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backend`](backend)).</a:t>
            </a:r>
          </a:p>
          <a:p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ИИ: </a:t>
            </a:r>
            <a:r>
              <a:rPr lang="en-US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Ollama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модель </a:t>
            </a:r>
            <a:r>
              <a:rPr lang="en-US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Qwen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2.5;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обмен 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JSON;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структурированный ответ по схеме.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Дополнительно (по заданию): 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Telegram Bot API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уведомлений.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211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39362" y="6207612"/>
            <a:ext cx="635192" cy="574701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13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Модель данных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28948" y="6225368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791745-81FE-A237-8E87-8274C3D9F139}"/>
              </a:ext>
            </a:extLst>
          </p:cNvPr>
          <p:cNvSpPr txBox="1"/>
          <p:nvPr/>
        </p:nvSpPr>
        <p:spPr>
          <a:xfrm>
            <a:off x="583532" y="1133541"/>
            <a:ext cx="77543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Ключевые сущности: пользователи, консультационные сессии и сообщения, справочник услуг, диагностические сценарии, материалы/подсказки, заявки.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Реляционная модель обеспечивает целостность и историю диалогов для анализа и повторных обращений.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 descr="Изображение выглядит как текст, снимок экрана, Шрифт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C16DCB9-4ED7-25C1-C767-94CBC76BD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194" y="2600708"/>
            <a:ext cx="4076895" cy="360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007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39362" y="6207612"/>
            <a:ext cx="635192" cy="574701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14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Пользовательский интерфейс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28948" y="6225368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791745-81FE-A237-8E87-8274C3D9F139}"/>
              </a:ext>
            </a:extLst>
          </p:cNvPr>
          <p:cNvSpPr txBox="1"/>
          <p:nvPr/>
        </p:nvSpPr>
        <p:spPr>
          <a:xfrm>
            <a:off x="529390" y="1566235"/>
            <a:ext cx="77543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Последовательный сценарий: главный экран → диалог с ассистентом → экран результатов → подтверждение заявки.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Регистрация и вход; личный кабинет с историей консультаций и заявок.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Ролевые кабинеты (менеджер, администратор) — в полной версии системы репозитория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BC60C8-34F3-8359-C1D0-F8B2F1447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386735"/>
            <a:ext cx="9116697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441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39362" y="6207612"/>
            <a:ext cx="635192" cy="574701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15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Пользовательский интерфейс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28948" y="6225368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pic>
        <p:nvPicPr>
          <p:cNvPr id="7" name="Рисунок 6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C975596-2135-9D6D-60BF-8F0FC2CAD5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633" y="2400190"/>
            <a:ext cx="5660621" cy="2884633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E694A0F-FA40-F7EB-AA3E-1AE583C8AF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54" y="2400190"/>
            <a:ext cx="5665216" cy="288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650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39362" y="6207612"/>
            <a:ext cx="635192" cy="574701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16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Серверная часть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28948" y="6225368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791745-81FE-A237-8E87-8274C3D9F139}"/>
              </a:ext>
            </a:extLst>
          </p:cNvPr>
          <p:cNvSpPr txBox="1"/>
          <p:nvPr/>
        </p:nvSpPr>
        <p:spPr>
          <a:xfrm>
            <a:off x="529390" y="1566235"/>
            <a:ext cx="77543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Модульный монолит на 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Express: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маршрутизация 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REST, middleware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безопасности и 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CORS,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работа с БД через 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Prisma.</a:t>
            </a:r>
          </a:p>
          <a:p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Управление консультационными сессиями; вызов сервиса обработки обращений и записей по заявкам.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Пример точки входа консультации: 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 POST `/consultations` → 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сервис `</a:t>
            </a:r>
            <a:r>
              <a:rPr lang="en-US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consultationsService.process</a:t>
            </a:r>
            <a:r>
              <a:rPr lang="en-US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(...)`.</a:t>
            </a:r>
          </a:p>
        </p:txBody>
      </p:sp>
    </p:spTree>
    <p:extLst>
      <p:ext uri="{BB962C8B-B14F-4D97-AF65-F5344CB8AC3E}">
        <p14:creationId xmlns:p14="http://schemas.microsoft.com/office/powerpoint/2010/main" val="4263169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39362" y="6207612"/>
            <a:ext cx="635192" cy="574701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17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Подсистемы искусственного интеллекта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28948" y="6225368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791745-81FE-A237-8E87-8274C3D9F139}"/>
              </a:ext>
            </a:extLst>
          </p:cNvPr>
          <p:cNvSpPr txBox="1"/>
          <p:nvPr/>
        </p:nvSpPr>
        <p:spPr>
          <a:xfrm>
            <a:off x="505327" y="1814169"/>
            <a:ext cx="77543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Взаимодействие с моделью по HTTP API 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Ollama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запрос с историей сообщений сессии; ответ в JSON.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Гибридный алгоритм: предварительный 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rule-based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анализ симптомов + вывод LLM; при ошибках/пустых данных — устойчивый 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fallback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Ответ модели жёстко структурируется схемой (гипотезы, рекомендуемые проверки, срочность, 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confidence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estimated_cost_from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краткое резюме).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Локальная модель: автономность, контроль над данными, снижение риска утечки по сравнению с облачным API.</a:t>
            </a:r>
          </a:p>
        </p:txBody>
      </p:sp>
    </p:spTree>
    <p:extLst>
      <p:ext uri="{BB962C8B-B14F-4D97-AF65-F5344CB8AC3E}">
        <p14:creationId xmlns:p14="http://schemas.microsoft.com/office/powerpoint/2010/main" val="2296633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39362" y="6207612"/>
            <a:ext cx="635192" cy="574701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18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Тестирование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28948" y="6225368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791745-81FE-A237-8E87-8274C3D9F139}"/>
              </a:ext>
            </a:extLst>
          </p:cNvPr>
          <p:cNvSpPr txBox="1"/>
          <p:nvPr/>
        </p:nvSpPr>
        <p:spPr>
          <a:xfrm>
            <a:off x="457200" y="1266733"/>
            <a:ext cx="77543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Ручной сценарий по критическому пути пользователя: открытие консультации → ввод данных ТС и симптомов → анализ → уточнения → диагностический результат → рекомендации → стоимость «от» (этапы 1–9 в таблице 2.1 записки — все «Выполнено»).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Интеграционные тесты ([`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tests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`](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tests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)): полный цикл консультации, роли и RBAC, заявки, гостевые сценарии, конкурентная работа с заявками, админ-контент и пользователи и др.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Критических ошибок, блокирующих эксплуатацию, при проверках не выявлено.</a:t>
            </a:r>
          </a:p>
        </p:txBody>
      </p:sp>
    </p:spTree>
    <p:extLst>
      <p:ext uri="{BB962C8B-B14F-4D97-AF65-F5344CB8AC3E}">
        <p14:creationId xmlns:p14="http://schemas.microsoft.com/office/powerpoint/2010/main" val="708999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39362" y="6207612"/>
            <a:ext cx="635192" cy="574701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19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Результаты и развертывание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28948" y="6225368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791745-81FE-A237-8E87-8274C3D9F139}"/>
              </a:ext>
            </a:extLst>
          </p:cNvPr>
          <p:cNvSpPr txBox="1"/>
          <p:nvPr/>
        </p:nvSpPr>
        <p:spPr>
          <a:xfrm>
            <a:off x="457200" y="1393065"/>
            <a:ext cx="77543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Подтверждена работоспособность ключевых сценариев: консультация, предварительный результат, передача заявки в контур менеджера.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ИИ-модуль стабильно выделяет признаки обращения; вывод используется как предварительная оценка, не замена очной диагностики.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Развёртывание: сервер приложения, </a:t>
            </a:r>
            <a:r>
              <a:rPr lang="ru-RU" b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локальный ИИ; миграции БД, начальные данные, контроль критического сценария после установки.</a:t>
            </a:r>
          </a:p>
        </p:txBody>
      </p:sp>
    </p:spTree>
    <p:extLst>
      <p:ext uri="{BB962C8B-B14F-4D97-AF65-F5344CB8AC3E}">
        <p14:creationId xmlns:p14="http://schemas.microsoft.com/office/powerpoint/2010/main" val="875114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39362" y="6207612"/>
            <a:ext cx="635192" cy="574701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20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Видео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28948" y="6225368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</p:spTree>
    <p:extLst>
      <p:ext uri="{BB962C8B-B14F-4D97-AF65-F5344CB8AC3E}">
        <p14:creationId xmlns:p14="http://schemas.microsoft.com/office/powerpoint/2010/main" val="1684525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439362" y="6207612"/>
            <a:ext cx="635192" cy="574701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21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244509"/>
            <a:ext cx="53815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prstClr val="black"/>
                </a:solidFill>
                <a:latin typeface="Gilroy Bold" panose="00000800000000000000" pitchFamily="2" charset="-52"/>
                <a:ea typeface="+mj-ea"/>
                <a:cs typeface="+mj-cs"/>
              </a:rPr>
              <a:t>Заключение и перспективы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28948" y="6225368"/>
            <a:ext cx="10916724" cy="487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 221-32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3</a:t>
            </a:r>
            <a:r>
              <a:rPr kumimoji="0" lang="ru-RU" sz="11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04.06.2026</a:t>
            </a:r>
            <a:endParaRPr kumimoji="0" lang="ru-RU" sz="11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РАЗРАБОТКА ИНТЕЛЛЕКТУАЛЬНОЙ СИСТЕМЫ РАБОТЫ С КЛИЕНТАМИ АВТОСЕРВИСА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88F586-0221-1F07-97DE-91DCFBCA761F}"/>
              </a:ext>
            </a:extLst>
          </p:cNvPr>
          <p:cNvSpPr txBox="1"/>
          <p:nvPr/>
        </p:nvSpPr>
        <p:spPr>
          <a:xfrm>
            <a:off x="619626" y="1750595"/>
            <a:ext cx="80912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Реализована клиент-серверная система первичной консультации с локальной LLM и гибридной диагностикой.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Достигнуты цели задания: диалог, анализ обращения, стоимость «от», заявка, роль модели доступа и тестирование.</a:t>
            </a:r>
          </a:p>
          <a:p>
            <a:r>
              <a:rPr lang="ru-RU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Перспективы: расширение справочников и диагностических сценариев; углубление метрик качества ответов ИИ; доработка каналов уведомлений и аналитики для руководства.</a:t>
            </a:r>
          </a:p>
          <a:p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21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55688" y="705942"/>
            <a:ext cx="12502191" cy="428760"/>
          </a:xfrm>
        </p:spPr>
        <p:txBody>
          <a:bodyPr>
            <a:noAutofit/>
          </a:bodyPr>
          <a:lstStyle/>
          <a:p>
            <a:r>
              <a:rPr lang="ru-RU" sz="2800" dirty="0"/>
              <a:t>С п а с и б о    з а   в н и м а н </a:t>
            </a:r>
            <a:r>
              <a:rPr lang="ru-RU" sz="2800"/>
              <a:t>и е ! 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7087263" y="4348563"/>
            <a:ext cx="438953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Студент: </a:t>
            </a:r>
          </a:p>
          <a:p>
            <a:pPr marL="0" marR="0" lvl="0" indent="0" algn="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Пойманов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Никита Витальевич, группа 221-323 </a:t>
            </a:r>
          </a:p>
          <a:p>
            <a:pPr marL="0" marR="0" lvl="0" indent="0" algn="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pPr marL="0" marR="0" lvl="0" indent="0" algn="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Научный руководитель: </a:t>
            </a:r>
          </a:p>
          <a:p>
            <a:pPr marL="0" marR="0" lvl="0" indent="0" algn="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Смирнова Юлия Владимировна, к.т.н.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Москва, 4 июня 2024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434420" y="2951946"/>
            <a:ext cx="96548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РАЗРАБОТКА  ВЕБ-ПРИЛОЖЕНИЯ  ДЛЯ БРОНИРОВАНИЯ 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ТЕННИСНЫХ  КОРТОВ  В СПРОТКЛУБЕ  СМЭШ 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588</TotalTime>
  <Words>1698</Words>
  <Application>Microsoft Office PowerPoint</Application>
  <PresentationFormat>Широкоэкранный</PresentationFormat>
  <Paragraphs>191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9" baseType="lpstr">
      <vt:lpstr>Verdana</vt:lpstr>
      <vt:lpstr>Arial</vt:lpstr>
      <vt:lpstr>Consolas</vt:lpstr>
      <vt:lpstr>Gilroy Medium</vt:lpstr>
      <vt:lpstr>Calibri</vt:lpstr>
      <vt:lpstr>Gilroy Bold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 п а с и б о    з а   в н и м а н и е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Veronika Natur</dc:creator>
  <cp:lastModifiedBy>Nikityanskiy Poymanov</cp:lastModifiedBy>
  <cp:revision>37</cp:revision>
  <dcterms:created xsi:type="dcterms:W3CDTF">2024-05-27T20:04:35Z</dcterms:created>
  <dcterms:modified xsi:type="dcterms:W3CDTF">2026-05-10T08:39:38Z</dcterms:modified>
</cp:coreProperties>
</file>